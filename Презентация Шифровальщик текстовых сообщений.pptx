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2"/>
    <a:srgbClr val="FFF7ED"/>
    <a:srgbClr val="FFE4C4"/>
    <a:srgbClr val="ED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C8BE7F-AE3B-DB60-C196-62752B4C81CB}" v="3040" dt="2026-06-07T22:16:09.7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794786" y="671737"/>
            <a:ext cx="6319520" cy="1209040"/>
          </a:xfrm>
        </p:spPr>
        <p:txBody>
          <a:bodyPr>
            <a:normAutofit/>
          </a:bodyPr>
          <a:lstStyle/>
          <a:p>
            <a:r>
              <a:rPr lang="ru-RU" sz="4000">
                <a:latin typeface="Times New Roman"/>
                <a:cs typeface="Times New Roman"/>
              </a:rPr>
              <a:t>Шифровальщик текстовых сообщений</a:t>
            </a:r>
            <a:endParaRPr lang="ru-RU" sz="4000" dirty="0">
              <a:latin typeface="Times New Roman"/>
              <a:cs typeface="Times New Roman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598024" y="3064157"/>
            <a:ext cx="5109883" cy="196056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Платонов Савелий Евгеньевич — </a:t>
            </a:r>
            <a:r>
              <a:rPr lang="ru-RU" sz="180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группа</a:t>
            </a:r>
            <a:r>
              <a:rPr lang="ru-RU" sz="18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02.24.ИСИП.ОФ.9-НСК</a:t>
            </a:r>
            <a:endParaRPr lang="ru-RU" sz="180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ru-RU" sz="180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Руководитель</a:t>
            </a:r>
            <a:r>
              <a:rPr lang="ru-RU" sz="18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: </a:t>
            </a:r>
            <a:r>
              <a:rPr lang="ru-RU" sz="180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Королёв</a:t>
            </a:r>
            <a:r>
              <a:rPr lang="ru-RU" sz="18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Гордей </a:t>
            </a: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Александрович</a:t>
            </a:r>
            <a:endParaRPr lang="ru-RU" sz="1800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Хекслет</a:t>
            </a:r>
            <a:r>
              <a:rPr lang="ru-RU" sz="18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ru-RU" sz="1800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колледж</a:t>
            </a: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— 2026 год</a:t>
            </a:r>
            <a:endParaRPr lang="ru-RU" sz="1800">
              <a:latin typeface="Times New Roman"/>
              <a:cs typeface="Times New Roman"/>
            </a:endParaRPr>
          </a:p>
          <a:p>
            <a:endParaRPr lang="ru-RU" dirty="0"/>
          </a:p>
        </p:txBody>
      </p:sp>
      <p:pic>
        <p:nvPicPr>
          <p:cNvPr id="5" name="Рисунок 4" descr="Изображение выглядит как снимок экрана, Графика, линия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FB25A4D-ECFD-D2DA-E3CF-DFBB5AB11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353" y="510989"/>
            <a:ext cx="551329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7DC44C5-26EC-F00B-F8B0-3BCB3A02874A}"/>
              </a:ext>
            </a:extLst>
          </p:cNvPr>
          <p:cNvSpPr/>
          <p:nvPr/>
        </p:nvSpPr>
        <p:spPr>
          <a:xfrm>
            <a:off x="6471919" y="2133600"/>
            <a:ext cx="4886960" cy="3180080"/>
          </a:xfrm>
          <a:prstGeom prst="roundRect">
            <a:avLst/>
          </a:prstGeom>
          <a:solidFill>
            <a:schemeClr val="bg1"/>
          </a:solidFill>
          <a:ln>
            <a:solidFill>
              <a:srgbClr val="FFE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02BF31D-47BE-A482-85EF-914DFC4B475C}"/>
              </a:ext>
            </a:extLst>
          </p:cNvPr>
          <p:cNvSpPr/>
          <p:nvPr/>
        </p:nvSpPr>
        <p:spPr>
          <a:xfrm>
            <a:off x="883920" y="2133600"/>
            <a:ext cx="4886960" cy="3180080"/>
          </a:xfrm>
          <a:prstGeom prst="roundRect">
            <a:avLst/>
          </a:prstGeom>
          <a:solidFill>
            <a:schemeClr val="bg1"/>
          </a:solidFill>
          <a:ln>
            <a:solidFill>
              <a:srgbClr val="FFE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8AA689-E2C8-6FDF-0625-1EA4F401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411" y="374090"/>
            <a:ext cx="7109012" cy="1343492"/>
          </a:xfrm>
        </p:spPr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Актульность и 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728396-C539-3DDA-D19F-E884B6CF5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788" y="2453154"/>
            <a:ext cx="4267200" cy="25135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1800">
                <a:solidFill>
                  <a:srgbClr val="000000"/>
                </a:solidFill>
                <a:latin typeface="Times New Roman"/>
              </a:rPr>
              <a:t>Актуальность данной темы обусловлена тем, что с ростом объёмов передаваемой информации возрастает и риск несанкционированного доступа. Простые, но эффективные методы шифрования, такие как шифр Цезаря, остаются востребованными в учебных, тестовых и даже отдельных прикладных сценариях.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B75DB8-61DF-0B61-E4BA-9774FB9C982F}"/>
              </a:ext>
            </a:extLst>
          </p:cNvPr>
          <p:cNvSpPr txBox="1"/>
          <p:nvPr/>
        </p:nvSpPr>
        <p:spPr>
          <a:xfrm>
            <a:off x="6624918" y="2360406"/>
            <a:ext cx="473336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latin typeface="Times New Roman"/>
              </a:rPr>
              <a:t>Целью данного курсового проекта является разработка приложения «Шифровальщик текстовых сообщений», обеспечивающего шифрование и расшифрование текста </a:t>
            </a:r>
            <a:r>
              <a:rPr lang="ru-RU" b="0" i="0">
                <a:solidFill>
                  <a:srgbClr val="000000"/>
                </a:solidFill>
                <a:latin typeface="Times New Roman"/>
              </a:rPr>
              <a:t>на Русском и Английском </a:t>
            </a:r>
            <a:r>
              <a:rPr lang="ru-RU">
                <a:solidFill>
                  <a:srgbClr val="000000"/>
                </a:solidFill>
                <a:latin typeface="Times New Roman"/>
              </a:rPr>
              <a:t>языках</a:t>
            </a:r>
            <a:r>
              <a:rPr lang="ru-RU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lang="ru-RU">
                <a:solidFill>
                  <a:srgbClr val="000000"/>
                </a:solidFill>
                <a:latin typeface="Times New Roman"/>
              </a:rPr>
              <a:t>используя шифры </a:t>
            </a:r>
            <a:r>
              <a:rPr lang="ru-RU" b="0" i="0">
                <a:solidFill>
                  <a:srgbClr val="000000"/>
                </a:solidFill>
                <a:latin typeface="Times New Roman"/>
              </a:rPr>
              <a:t>Цезаря и Atbash </a:t>
            </a:r>
            <a:r>
              <a:rPr lang="ru-RU">
                <a:solidFill>
                  <a:srgbClr val="000000"/>
                </a:solidFill>
                <a:latin typeface="Times New Roman"/>
              </a:rPr>
              <a:t>,</a:t>
            </a:r>
            <a:r>
              <a:rPr lang="ru-RU" b="0" i="0">
                <a:solidFill>
                  <a:srgbClr val="000000"/>
                </a:solidFill>
                <a:latin typeface="Times New Roman"/>
              </a:rPr>
              <a:t> а также </a:t>
            </a:r>
            <a:r>
              <a:rPr lang="ru-RU" b="0" i="0" dirty="0">
                <a:solidFill>
                  <a:srgbClr val="000000"/>
                </a:solidFill>
                <a:latin typeface="Times New Roman"/>
              </a:rPr>
              <a:t>реализующего функции сохранения зашифрованного/расшифрованного текста в файл и его загрузки.</a:t>
            </a:r>
            <a:r>
              <a:rPr b="0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  <a:endParaRPr lang="ru-RU" dirty="0"/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428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1F85A-BE0E-97A1-815F-B6BCD9BD0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49A12B-EF7E-9242-00DE-DADDEFAC7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349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Для достижения цели, поставленной в проекте, решались следующиезадачи (перечислить задачи):</a:t>
            </a:r>
            <a:br>
              <a:rPr lang="ru-RU" sz="18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endParaRPr lang="ru-RU" sz="1800">
              <a:latin typeface="Times New Roman"/>
              <a:cs typeface="Times New Roman"/>
            </a:endParaRPr>
          </a:p>
          <a:p>
            <a:pPr algn="just">
              <a:buNone/>
            </a:pP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1. Изучить теоретические основы и современные стандарты клиентской веб-разработки.</a:t>
            </a:r>
          </a:p>
          <a:p>
            <a:pPr algn="just">
              <a:buNone/>
            </a:pP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2. Спроектировать логическую структуру и семантический каркас пользовательского</a:t>
            </a:r>
          </a:p>
          <a:p>
            <a:pPr algn="just">
              <a:buNone/>
            </a:pP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интерфейса на HTML5.</a:t>
            </a:r>
          </a:p>
          <a:p>
            <a:pPr algn="just">
              <a:buNone/>
            </a:pP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3. Реализовать алгоритм шифрования Цезаря</a:t>
            </a:r>
          </a:p>
          <a:p>
            <a:pPr algn="just">
              <a:buNone/>
            </a:pP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4. Реализовать алгоритм шифрования Atbash</a:t>
            </a:r>
          </a:p>
          <a:p>
            <a:pPr algn="just">
              <a:buNone/>
            </a:pPr>
            <a:r>
              <a:rPr lang="ru-RU" sz="18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5. Реализовать функции сохранения результата в текстовый файл и загрузки текста из файла в поле ввода.</a:t>
            </a:r>
          </a:p>
          <a:p>
            <a:pPr marL="0" indent="0">
              <a:buNone/>
            </a:pPr>
            <a:endParaRPr lang="ru-RU" sz="1800" dirty="0">
              <a:latin typeface="Times New Roman"/>
              <a:ea typeface="+mn-lt"/>
              <a:cs typeface="Times New Roman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000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D8A7F4B-52E4-5C7F-8F36-2AD7B0594802}"/>
              </a:ext>
            </a:extLst>
          </p:cNvPr>
          <p:cNvSpPr/>
          <p:nvPr/>
        </p:nvSpPr>
        <p:spPr>
          <a:xfrm>
            <a:off x="6268718" y="629919"/>
            <a:ext cx="3230880" cy="2479039"/>
          </a:xfrm>
          <a:prstGeom prst="roundRect">
            <a:avLst/>
          </a:prstGeom>
          <a:solidFill>
            <a:schemeClr val="bg1"/>
          </a:solidFill>
          <a:ln>
            <a:solidFill>
              <a:srgbClr val="FFE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7FEBDD8B-D67B-85F2-463F-BD58454399D4}"/>
              </a:ext>
            </a:extLst>
          </p:cNvPr>
          <p:cNvSpPr/>
          <p:nvPr/>
        </p:nvSpPr>
        <p:spPr>
          <a:xfrm>
            <a:off x="2519678" y="629919"/>
            <a:ext cx="3230880" cy="2479039"/>
          </a:xfrm>
          <a:prstGeom prst="roundRect">
            <a:avLst/>
          </a:prstGeom>
          <a:solidFill>
            <a:schemeClr val="bg1"/>
          </a:solidFill>
          <a:ln>
            <a:solidFill>
              <a:srgbClr val="FFE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B08E84A-E3D3-ED9C-5B65-6DC2C1536F0F}"/>
              </a:ext>
            </a:extLst>
          </p:cNvPr>
          <p:cNvSpPr/>
          <p:nvPr/>
        </p:nvSpPr>
        <p:spPr>
          <a:xfrm>
            <a:off x="4419599" y="3627120"/>
            <a:ext cx="3230880" cy="2479039"/>
          </a:xfrm>
          <a:prstGeom prst="roundRect">
            <a:avLst/>
          </a:prstGeom>
          <a:solidFill>
            <a:schemeClr val="bg1"/>
          </a:solidFill>
          <a:ln>
            <a:solidFill>
              <a:srgbClr val="FFE4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Объект 3" descr="Изображение выглядит как Шрифт, Графика, логотип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B10A47A-A32B-22D5-7CC6-75EEA2EE2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7640" y="3814529"/>
            <a:ext cx="1581973" cy="16507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574084-5F95-40F7-146C-6F355F39C07C}"/>
              </a:ext>
            </a:extLst>
          </p:cNvPr>
          <p:cNvSpPr txBox="1"/>
          <p:nvPr/>
        </p:nvSpPr>
        <p:spPr>
          <a:xfrm>
            <a:off x="5157695" y="5685714"/>
            <a:ext cx="188796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latin typeface="Times New Roman"/>
                <a:ea typeface="YS Text"/>
                <a:cs typeface="Times New Roman"/>
              </a:rPr>
              <a:t>JavaScript (ES6</a:t>
            </a:r>
            <a:r>
              <a:rPr lang="en-US">
                <a:latin typeface="Times New Roman"/>
                <a:ea typeface="YS Text"/>
                <a:cs typeface="Times New Roman"/>
              </a:rPr>
              <a:t>+)</a:t>
            </a:r>
            <a:endParaRPr lang="en-US"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  <p:pic>
        <p:nvPicPr>
          <p:cNvPr id="6" name="Рисунок 5" descr="Изображение выглядит как График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5A67FD1-082B-B97E-23AE-FCC377D87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499" y="738691"/>
            <a:ext cx="1763658" cy="18234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DE48C8-CAD0-65BF-20D7-8A1F1A9916C7}"/>
              </a:ext>
            </a:extLst>
          </p:cNvPr>
          <p:cNvSpPr txBox="1"/>
          <p:nvPr/>
        </p:nvSpPr>
        <p:spPr>
          <a:xfrm>
            <a:off x="3612776" y="2618591"/>
            <a:ext cx="103990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>
                <a:latin typeface="Times New Roman"/>
                <a:ea typeface="YS Text"/>
                <a:cs typeface="Times New Roman"/>
              </a:rPr>
              <a:t>HTML5</a:t>
            </a:r>
            <a:endParaRPr lang="en-US">
              <a:latin typeface="Times New Roman"/>
              <a:cs typeface="Times New Roman"/>
            </a:endParaRPr>
          </a:p>
          <a:p>
            <a:pPr algn="ctr"/>
            <a:endParaRPr lang="ru-RU"/>
          </a:p>
        </p:txBody>
      </p:sp>
      <p:pic>
        <p:nvPicPr>
          <p:cNvPr id="9" name="Рисунок 8" descr="Изображение выглядит как символ, снимок экрана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E213994-A318-7CB9-B94B-7EBD9D65D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760" y="453570"/>
            <a:ext cx="2579916" cy="2477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CEA323-59D9-BC3D-625C-A2C19B4098DD}"/>
              </a:ext>
            </a:extLst>
          </p:cNvPr>
          <p:cNvSpPr txBox="1"/>
          <p:nvPr/>
        </p:nvSpPr>
        <p:spPr>
          <a:xfrm>
            <a:off x="7514046" y="2616925"/>
            <a:ext cx="74022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cs typeface="Times New Roman"/>
              </a:rPr>
              <a:t>CSS3</a:t>
            </a:r>
          </a:p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151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12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62E683-1261-DF0D-3A25-8D2FA7DE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23025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 err="1">
                <a:latin typeface="Times New Roman"/>
                <a:cs typeface="Times New Roman"/>
              </a:rPr>
              <a:t>Пользовательский</a:t>
            </a:r>
            <a:r>
              <a:rPr lang="en-US" sz="3600" kern="1200" dirty="0">
                <a:latin typeface="Times New Roman"/>
                <a:cs typeface="Times New Roman"/>
              </a:rPr>
              <a:t> </a:t>
            </a:r>
            <a:r>
              <a:rPr lang="en-US" sz="3600" kern="1200" dirty="0" err="1">
                <a:latin typeface="Times New Roman"/>
                <a:cs typeface="Times New Roman"/>
              </a:rPr>
              <a:t>интерфейс</a:t>
            </a:r>
            <a:endParaRPr lang="en-US" sz="3600" kern="1200">
              <a:latin typeface="Times New Roman"/>
              <a:cs typeface="Times New Roman"/>
            </a:endParaRPr>
          </a:p>
        </p:txBody>
      </p:sp>
      <p:pic>
        <p:nvPicPr>
          <p:cNvPr id="6" name="Объект 5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F52272-7788-6E1A-1B27-51314F8CC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370" y="1307033"/>
            <a:ext cx="9496533" cy="525654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0925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4E908-F205-ED4F-4BB5-10924A926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125"/>
            <a:ext cx="10515600" cy="1325563"/>
          </a:xfrm>
        </p:spPr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Поле ввода</a:t>
            </a:r>
            <a:r>
              <a:rPr lang="ru-RU" dirty="0"/>
              <a:t> </a:t>
            </a:r>
          </a:p>
        </p:txBody>
      </p:sp>
      <p:pic>
        <p:nvPicPr>
          <p:cNvPr id="4" name="Объект 3" descr="Изображение выглядит как текст, снимок экрана, Шрифт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6D485D-B455-6D87-295D-CA5DB0890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9312" y="1304766"/>
            <a:ext cx="10086975" cy="15525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340CCD-9584-C128-6FA1-199BF31948D2}"/>
              </a:ext>
            </a:extLst>
          </p:cNvPr>
          <p:cNvSpPr txBox="1"/>
          <p:nvPr/>
        </p:nvSpPr>
        <p:spPr>
          <a:xfrm>
            <a:off x="853440" y="3119120"/>
            <a:ext cx="708152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Поле ввода </a:t>
            </a:r>
            <a:r>
              <a:rPr lang="ru-RU" dirty="0">
                <a:latin typeface="Times New Roman"/>
                <a:ea typeface="+mn-lt"/>
                <a:cs typeface="Times New Roman"/>
              </a:rPr>
              <a:t>реализовано при помощи HTML-элемента &lt;textarea&gt;, который создаёт многострочное поле для ввода </a:t>
            </a:r>
            <a:r>
              <a:rPr lang="ru-RU">
                <a:latin typeface="Times New Roman"/>
                <a:ea typeface="+mn-lt"/>
                <a:cs typeface="Times New Roman"/>
              </a:rPr>
              <a:t>текста.</a:t>
            </a:r>
            <a:endParaRPr lang="ru-RU">
              <a:latin typeface="Times New Roman"/>
              <a:cs typeface="Times New Roman"/>
            </a:endParaRPr>
          </a:p>
          <a:p>
            <a:br>
              <a:rPr lang="ru-RU" dirty="0">
                <a:latin typeface="Times New Roman"/>
                <a:ea typeface="+mn-lt"/>
                <a:cs typeface="Times New Roman"/>
              </a:rPr>
            </a:br>
            <a:r>
              <a:rPr lang="ru-RU">
                <a:latin typeface="Times New Roman"/>
                <a:ea typeface="+mn-lt"/>
                <a:cs typeface="Times New Roman"/>
              </a:rPr>
              <a:t>Оно нужно для ввода исходного текста, который будет в</a:t>
            </a:r>
            <a:r>
              <a:rPr lang="ru-RU" dirty="0">
                <a:latin typeface="Times New Roman"/>
                <a:ea typeface="+mn-lt"/>
                <a:cs typeface="Times New Roman"/>
              </a:rPr>
              <a:t>последствии зашифрован или расширован.</a:t>
            </a:r>
            <a:endParaRPr lang="ru-RU">
              <a:latin typeface="Times New Roman"/>
              <a:cs typeface="Times New Roman"/>
            </a:endParaRPr>
          </a:p>
          <a:p>
            <a:endParaRPr lang="ru-RU" dirty="0">
              <a:latin typeface="Times New Roman"/>
              <a:ea typeface="+mn-lt"/>
              <a:cs typeface="Times New Roman"/>
            </a:endParaRPr>
          </a:p>
          <a:p>
            <a:r>
              <a:rPr lang="ru-RU" dirty="0">
                <a:latin typeface="Times New Roman"/>
                <a:ea typeface="+mn-lt"/>
                <a:cs typeface="Times New Roman"/>
              </a:rPr>
              <a:t>Пользатель может не только вручную писать текст, но загрузить </a:t>
            </a:r>
            <a:r>
              <a:rPr lang="ru-RU">
                <a:latin typeface="Times New Roman"/>
                <a:ea typeface="+mn-lt"/>
                <a:cs typeface="Times New Roman"/>
              </a:rPr>
              <a:t>его из тесктового &lt;.txt&gt; файла.</a:t>
            </a:r>
            <a:endParaRPr lang="ru-RU" dirty="0">
              <a:latin typeface="Times New Roman"/>
              <a:ea typeface="+mn-l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16096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5F9C0-C190-2E4F-4B03-E5441EB2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Блок с выбором и настройкой шифра</a:t>
            </a:r>
            <a:endParaRPr lang="ru-RU" dirty="0">
              <a:latin typeface="Aptos Display" panose="020F0302020204030204"/>
              <a:cs typeface="Times New Roman"/>
            </a:endParaRPr>
          </a:p>
        </p:txBody>
      </p:sp>
      <p:pic>
        <p:nvPicPr>
          <p:cNvPr id="4" name="Объект 3" descr="Изображение выглядит как текст, снимок экрана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94EDD0-6B18-15D9-367A-1575642CE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6137" y="1441291"/>
            <a:ext cx="9991725" cy="13811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DF735D-C9F1-A4FA-837D-FEFCD1C39119}"/>
              </a:ext>
            </a:extLst>
          </p:cNvPr>
          <p:cNvSpPr txBox="1"/>
          <p:nvPr/>
        </p:nvSpPr>
        <p:spPr>
          <a:xfrm>
            <a:off x="843280" y="3098800"/>
            <a:ext cx="999744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Блок состоит из 3х других блоков: Блока с выбором шрифта &lt;select&gt;, Блок с выбором языка </a:t>
            </a:r>
            <a:r>
              <a:rPr lang="ru-RU">
                <a:latin typeface="Times New Roman"/>
                <a:cs typeface="Times New Roman"/>
              </a:rPr>
              <a:t>&lt;select&gt;, Блок с выбором сдвига для шифра цезаря &lt;input type="number"&gt;</a:t>
            </a:r>
            <a:endParaRPr lang="ru-RU" dirty="0">
              <a:latin typeface="Times New Roman"/>
              <a:cs typeface="Times New Roman"/>
            </a:endParaRPr>
          </a:p>
          <a:p>
            <a:endParaRPr lang="ru-RU" dirty="0">
              <a:latin typeface="Times New Roman"/>
              <a:cs typeface="Times New Roman"/>
            </a:endParaRPr>
          </a:p>
          <a:p>
            <a:r>
              <a:rPr lang="ru-RU">
                <a:latin typeface="Times New Roman"/>
                <a:cs typeface="Times New Roman"/>
              </a:rPr>
              <a:t>Шифр - выбор типа шифрование (доступно: Цезарь и Atbash)</a:t>
            </a:r>
            <a:endParaRPr lang="ru-RU" dirty="0">
              <a:latin typeface="Times New Roman"/>
              <a:cs typeface="Times New Roman"/>
            </a:endParaRPr>
          </a:p>
          <a:p>
            <a:endParaRPr lang="ru-RU" dirty="0">
              <a:latin typeface="Times New Roman"/>
              <a:cs typeface="Times New Roman"/>
            </a:endParaRPr>
          </a:p>
          <a:p>
            <a:r>
              <a:rPr lang="ru-RU">
                <a:latin typeface="Times New Roman"/>
                <a:cs typeface="Times New Roman"/>
              </a:rPr>
              <a:t>Язык - выбор языка шифрование (доступно: Русский и Английский)</a:t>
            </a:r>
            <a:endParaRPr lang="ru-RU" dirty="0">
              <a:latin typeface="Times New Roman"/>
              <a:cs typeface="Times New Roman"/>
            </a:endParaRPr>
          </a:p>
          <a:p>
            <a:endParaRPr lang="ru-RU" dirty="0">
              <a:latin typeface="Times New Roman"/>
              <a:cs typeface="Times New Roman"/>
            </a:endParaRPr>
          </a:p>
          <a:p>
            <a:r>
              <a:rPr lang="ru-RU">
                <a:latin typeface="Times New Roman"/>
                <a:cs typeface="Times New Roman"/>
              </a:rPr>
              <a:t>Сдвиг - выбор сдвига для шифра цезаря относительно размера алфавита</a:t>
            </a:r>
            <a:br>
              <a:rPr lang="ru-RU" dirty="0">
                <a:latin typeface="Times New Roman"/>
                <a:cs typeface="Times New Roman"/>
              </a:rPr>
            </a:br>
            <a:r>
              <a:rPr lang="ru-RU" dirty="0">
                <a:latin typeface="Times New Roman"/>
                <a:cs typeface="Times New Roman"/>
              </a:rPr>
              <a:t>(Русский язык: от 1 до 33 символом)</a:t>
            </a:r>
          </a:p>
          <a:p>
            <a:r>
              <a:rPr lang="ru-RU">
                <a:latin typeface="Times New Roman"/>
                <a:cs typeface="Times New Roman"/>
              </a:rPr>
              <a:t>(Английский язык: от 1 до 26 символов )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6621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985C4-F190-7A44-DFB8-3DF236CE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35"/>
            <a:ext cx="10515600" cy="1325563"/>
          </a:xfrm>
        </p:spPr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Блок с кнопками</a:t>
            </a:r>
          </a:p>
        </p:txBody>
      </p:sp>
      <p:pic>
        <p:nvPicPr>
          <p:cNvPr id="4" name="Объект 3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4005857-6F3F-850F-83A4-5A70FBEEF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502" y="1101884"/>
            <a:ext cx="8377555" cy="10134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893FC5-7828-8B11-E189-33451B717CAF}"/>
              </a:ext>
            </a:extLst>
          </p:cNvPr>
          <p:cNvSpPr txBox="1"/>
          <p:nvPr/>
        </p:nvSpPr>
        <p:spPr>
          <a:xfrm>
            <a:off x="843280" y="2235200"/>
            <a:ext cx="945896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>
                <a:latin typeface="Times New Roman"/>
                <a:cs typeface="Times New Roman"/>
              </a:rPr>
              <a:t>Блок снопками состоит из 4х кнопок реализованных при помощи &lt;button type="button"&gt;</a:t>
            </a:r>
          </a:p>
          <a:p>
            <a:endParaRPr lang="ru-RU" dirty="0">
              <a:latin typeface="Times New Roman"/>
              <a:cs typeface="Times New Roman"/>
            </a:endParaRPr>
          </a:p>
          <a:p>
            <a:r>
              <a:rPr lang="ru-RU" dirty="0">
                <a:latin typeface="Times New Roman"/>
                <a:cs typeface="Times New Roman"/>
              </a:rPr>
              <a:t>Кнопка </a:t>
            </a:r>
            <a:r>
              <a:rPr lang="ru-RU" dirty="0">
                <a:latin typeface="Times New Roman"/>
                <a:ea typeface="+mn-lt"/>
                <a:cs typeface="Times New Roman"/>
              </a:rPr>
              <a:t>«Зашифровать» - при нажатии сначала собирает значений из элементов, находящихся в блоке с настройкой и выбором шрифта, а также из блока ввода, </a:t>
            </a:r>
            <a:r>
              <a:rPr lang="ru-RU">
                <a:latin typeface="Times New Roman"/>
                <a:ea typeface="+mn-lt"/>
                <a:cs typeface="Times New Roman"/>
              </a:rPr>
              <a:t>следом запускает </a:t>
            </a:r>
            <a:r>
              <a:rPr lang="ru-RU" dirty="0">
                <a:latin typeface="Times New Roman"/>
                <a:ea typeface="+mn-lt"/>
                <a:cs typeface="Times New Roman"/>
              </a:rPr>
              <a:t>функцию шифрования и выводит результат в блок с результатом</a:t>
            </a:r>
            <a:endParaRPr lang="ru-RU">
              <a:latin typeface="Times New Roman"/>
              <a:cs typeface="Times New Roman"/>
            </a:endParaRPr>
          </a:p>
          <a:p>
            <a:endParaRPr lang="ru-RU" dirty="0">
              <a:latin typeface="Times New Roman"/>
              <a:cs typeface="Times New Roman"/>
            </a:endParaRPr>
          </a:p>
          <a:p>
            <a:r>
              <a:rPr lang="ru-RU">
                <a:latin typeface="Times New Roman"/>
                <a:cs typeface="Times New Roman"/>
              </a:rPr>
              <a:t>Кнопка </a:t>
            </a:r>
            <a:r>
              <a:rPr lang="ru-RU">
                <a:latin typeface="Times New Roman"/>
                <a:ea typeface="+mn-lt"/>
                <a:cs typeface="Times New Roman"/>
              </a:rPr>
              <a:t>«Расшифровать» - при нажатии сначала собирает значений из элементов, находящихся в блоке с настройкой и выбором шрифта, а также из блока ввода, следом запускает функцию расшифрования и выводит результат в блок с результатом</a:t>
            </a:r>
            <a:endParaRPr lang="ru-RU">
              <a:latin typeface="Times New Roman"/>
              <a:cs typeface="Times New Roman"/>
            </a:endParaRPr>
          </a:p>
          <a:p>
            <a:endParaRPr lang="ru-RU" dirty="0">
              <a:latin typeface="Times New Roman"/>
              <a:cs typeface="Times New Roman"/>
            </a:endParaRPr>
          </a:p>
          <a:p>
            <a:r>
              <a:rPr lang="ru-RU" dirty="0">
                <a:latin typeface="Times New Roman"/>
                <a:cs typeface="Times New Roman"/>
              </a:rPr>
              <a:t>Кнопка </a:t>
            </a:r>
            <a:r>
              <a:rPr lang="ru-RU" dirty="0">
                <a:latin typeface="Times New Roman"/>
                <a:ea typeface="+mn-lt"/>
                <a:cs typeface="Times New Roman"/>
              </a:rPr>
              <a:t>«Сохранить» - при нажатии сохраняет результат вывода (если такой имеется) в .txt </a:t>
            </a:r>
            <a:r>
              <a:rPr lang="ru-RU">
                <a:latin typeface="Times New Roman"/>
                <a:ea typeface="+mn-lt"/>
                <a:cs typeface="Times New Roman"/>
              </a:rPr>
              <a:t>файл</a:t>
            </a:r>
            <a:endParaRPr lang="ru-RU" dirty="0">
              <a:latin typeface="Times New Roman"/>
              <a:cs typeface="Times New Roman"/>
            </a:endParaRPr>
          </a:p>
          <a:p>
            <a:endParaRPr lang="ru-RU" dirty="0">
              <a:latin typeface="Times New Roman"/>
              <a:cs typeface="Times New Roman"/>
            </a:endParaRPr>
          </a:p>
          <a:p>
            <a:r>
              <a:rPr lang="ru-RU" dirty="0">
                <a:latin typeface="Times New Roman"/>
                <a:cs typeface="Times New Roman"/>
              </a:rPr>
              <a:t>Кнопка</a:t>
            </a:r>
            <a:r>
              <a:rPr lang="ru-RU">
                <a:latin typeface="Times New Roman"/>
                <a:ea typeface="+mn-lt"/>
                <a:cs typeface="Times New Roman"/>
              </a:rPr>
              <a:t> «Загрузить» - при нажатии загружает текст из .txt файла в  поле ввода &lt;textarea&gt;</a:t>
            </a:r>
            <a:endParaRPr lang="ru-RU" dirty="0">
              <a:latin typeface="Times New Roman"/>
              <a:cs typeface="Times New Roman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0306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B350D-9538-DA4D-B822-FE7478E10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Блок с результатом</a:t>
            </a:r>
          </a:p>
        </p:txBody>
      </p:sp>
      <p:pic>
        <p:nvPicPr>
          <p:cNvPr id="4" name="Объект 3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83FA711-676D-4C1C-752E-395EBA922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042" y="1600676"/>
            <a:ext cx="10506075" cy="10115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FC8478-AEF9-C116-9F63-EE2E3CF10E43}"/>
              </a:ext>
            </a:extLst>
          </p:cNvPr>
          <p:cNvSpPr txBox="1"/>
          <p:nvPr/>
        </p:nvSpPr>
        <p:spPr>
          <a:xfrm>
            <a:off x="843280" y="2834640"/>
            <a:ext cx="59740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/>
                <a:cs typeface="Times New Roman"/>
              </a:rPr>
              <a:t>Блок для вывода </a:t>
            </a:r>
            <a:r>
              <a:rPr lang="ru-RU">
                <a:latin typeface="Times New Roman"/>
                <a:cs typeface="Times New Roman"/>
              </a:rPr>
              <a:t>результата шифрования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3166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99D2D3-0DC4-6293-FE92-B954513B0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Алгоритм работы шифровальщика</a:t>
            </a:r>
            <a:endParaRPr lang="ru-RU" dirty="0">
              <a:latin typeface="Aptos Display" panose="020F0302020204030204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22869B-C698-EB7B-160C-18227F4C8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/>
                <a:cs typeface="Times New Roman"/>
              </a:rPr>
              <a:t>1)Ввод текста в поле ввода текста(или загрузить готовый из .txt </a:t>
            </a:r>
            <a:r>
              <a:rPr lang="ru-RU">
                <a:latin typeface="Times New Roman"/>
                <a:cs typeface="Times New Roman"/>
              </a:rPr>
              <a:t>файла кнопкой </a:t>
            </a:r>
            <a:r>
              <a:rPr lang="ru-RU">
                <a:latin typeface="Times New Roman"/>
                <a:ea typeface="+mn-lt"/>
                <a:cs typeface="Times New Roman"/>
              </a:rPr>
              <a:t>«Загрузить»</a:t>
            </a:r>
            <a:r>
              <a:rPr lang="ru-RU">
                <a:latin typeface="Times New Roman"/>
                <a:cs typeface="Times New Roman"/>
              </a:rPr>
              <a:t>)</a:t>
            </a:r>
            <a:endParaRPr lang="ru-RU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>
                <a:latin typeface="Times New Roman"/>
                <a:cs typeface="Times New Roman"/>
              </a:rPr>
              <a:t>2)выбор типы шифрования (Цезарь или Atbash)</a:t>
            </a:r>
            <a:endParaRPr lang="ru-RU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>
                <a:latin typeface="Times New Roman"/>
                <a:cs typeface="Times New Roman"/>
              </a:rPr>
              <a:t>3)Выбор языка</a:t>
            </a:r>
            <a:endParaRPr lang="ru-RU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>
                <a:latin typeface="Times New Roman"/>
                <a:cs typeface="Times New Roman"/>
              </a:rPr>
              <a:t>4)Если выбран Цезарь, то выбор сдвига(обязательно)</a:t>
            </a:r>
            <a:endParaRPr lang="ru-RU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>
                <a:latin typeface="Times New Roman"/>
                <a:cs typeface="Times New Roman"/>
              </a:rPr>
              <a:t>5)Выбор действия (зашифровать, расшифровать)</a:t>
            </a:r>
            <a:endParaRPr lang="ru-RU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>
                <a:latin typeface="Times New Roman"/>
                <a:cs typeface="Times New Roman"/>
              </a:rPr>
              <a:t>6)При надобности сохранить результат в .txt файл кнопкой </a:t>
            </a:r>
            <a:r>
              <a:rPr lang="ru-RU">
                <a:latin typeface="Times New Roman"/>
                <a:ea typeface="+mn-lt"/>
                <a:cs typeface="Times New Roman"/>
              </a:rPr>
              <a:t>«Сохранить»</a:t>
            </a:r>
            <a:endParaRPr lang="ru-RU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6273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DED672-7799-9EC6-FBC1-ECC6C8C8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Итоги: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1732B5-5B24-327F-C461-C14D0F516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>
                <a:latin typeface="Times New Roman"/>
                <a:ea typeface="+mn-lt"/>
                <a:cs typeface="Times New Roman"/>
              </a:rPr>
              <a:t>1) Спроектирована и свёрстана семантическая, адаптивная структура интерфейса на HTML5</a:t>
            </a:r>
          </a:p>
          <a:p>
            <a:pPr marL="0" indent="0">
              <a:buNone/>
            </a:pPr>
            <a:r>
              <a:rPr lang="ru-RU" sz="2400">
                <a:latin typeface="Times New Roman"/>
                <a:ea typeface="+mn-lt"/>
                <a:cs typeface="Times New Roman"/>
              </a:rPr>
              <a:t>2) Разработаны функции шифрование и расшифровки - Цезарь и Atbash.</a:t>
            </a:r>
          </a:p>
          <a:p>
            <a:pPr marL="0" indent="0">
              <a:buNone/>
            </a:pPr>
            <a:r>
              <a:rPr lang="ru-RU" sz="2400">
                <a:latin typeface="Times New Roman"/>
                <a:ea typeface="+mn-lt"/>
                <a:cs typeface="Times New Roman"/>
              </a:rPr>
              <a:t>3) Реализовано сохранение результата шифрования и расшифровки в .txt файл с использованием blob и UIL</a:t>
            </a:r>
          </a:p>
          <a:p>
            <a:pPr marL="0" indent="0">
              <a:buNone/>
            </a:pPr>
            <a:r>
              <a:rPr lang="ru-RU" sz="2400">
                <a:latin typeface="Times New Roman"/>
                <a:cs typeface="Times New Roman"/>
              </a:rPr>
              <a:t>4) Реализована загрузка текста из .txt файла  в поле ввода</a:t>
            </a:r>
          </a:p>
        </p:txBody>
      </p:sp>
    </p:spTree>
    <p:extLst>
      <p:ext uri="{BB962C8B-B14F-4D97-AF65-F5344CB8AC3E}">
        <p14:creationId xmlns:p14="http://schemas.microsoft.com/office/powerpoint/2010/main" val="11193731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Шифровальщик текстовых сообщений</vt:lpstr>
      <vt:lpstr>Актульность и цель проекта</vt:lpstr>
      <vt:lpstr>Задачи проекта</vt:lpstr>
      <vt:lpstr>Презентация PowerPoint</vt:lpstr>
      <vt:lpstr>Пользовательский интерфейс</vt:lpstr>
      <vt:lpstr>Поле ввода </vt:lpstr>
      <vt:lpstr>Блок с выбором и настройкой шифра</vt:lpstr>
      <vt:lpstr>Блок с кнопками</vt:lpstr>
      <vt:lpstr>Блок с результатом</vt:lpstr>
      <vt:lpstr>Алгоритм работы шифровальщика</vt:lpstr>
      <vt:lpstr>Итоги: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433</cp:revision>
  <dcterms:created xsi:type="dcterms:W3CDTF">2026-06-07T20:55:33Z</dcterms:created>
  <dcterms:modified xsi:type="dcterms:W3CDTF">2026-06-07T22:16:36Z</dcterms:modified>
</cp:coreProperties>
</file>